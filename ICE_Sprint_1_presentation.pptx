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i data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i data</a:t>
            </a:r>
          </a:p>
        </p:txBody>
      </p:sp>
      <p:sp>
        <p:nvSpPr>
          <p:cNvPr id="12" name="Tytuł prezentacji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Tytuł prezentacji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Widok z wnętrza kamiennej konstrukcji na schody oraz błękitne niebo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ytuł prezentacji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Tytuł prezentacji</a:t>
            </a:r>
          </a:p>
        </p:txBody>
      </p:sp>
      <p:sp>
        <p:nvSpPr>
          <p:cNvPr id="23" name="Autor i dat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i data</a:t>
            </a:r>
          </a:p>
        </p:txBody>
      </p:sp>
      <p:sp>
        <p:nvSpPr>
          <p:cNvPr id="24" name="Treść - poziom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prezentacji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zdjęcie (zamienn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owoczesny biały budynek ze szklanymi panelami na tle błękitnego nieba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ytuł slajdu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Tytuł slajdu</a:t>
            </a:r>
          </a:p>
        </p:txBody>
      </p:sp>
      <p:sp>
        <p:nvSpPr>
          <p:cNvPr id="34" name="Treść - poziom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Podtytuł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ytuł slajd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43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44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nk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 i punktory ze zdjęci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61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Niewielki fragment nowoczesnego mostu w Qingdao na półwyspie Szantung w Chinach, na tle lekko zachmurzonego nieba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mał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7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tuł, punktory, duże wideo na ży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82" name="Treść - poziom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Tytuł slajd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kc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ytuł sekcji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Tytuł sekcji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ytuł slajdu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Tytuł slajdu</a:t>
            </a:r>
          </a:p>
        </p:txBody>
      </p:sp>
      <p:sp>
        <p:nvSpPr>
          <p:cNvPr id="100" name="Podtytuł slajd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slajdu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ytuł programu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Tytuł programu</a:t>
            </a:r>
          </a:p>
        </p:txBody>
      </p:sp>
      <p:sp>
        <p:nvSpPr>
          <p:cNvPr id="109" name="Podtytuł program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Podtytuł programu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Tematy programu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świadcze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Oświadczenie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ażny f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reść - poziom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Informacje dotyczące faktu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Informacje dotyczące faktu</a:t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Uznanie autorstwa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Uznanie autorstwa</a:t>
            </a:r>
          </a:p>
        </p:txBody>
      </p:sp>
      <p:sp>
        <p:nvSpPr>
          <p:cNvPr id="136" name="Treść - poziom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„Cytat godny uwagi”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 (3 sztuk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asada nowoczesnego budynku z aluminiowymi płytami w perspektywie żabiej na tle błękitnego nieba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Nowoczesny, zakrzywiony budynek w perspektywie żabiej na tle zachmurzonego nieba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Widok z wnętrza nowoczesnego białego budynku ze szklanymi panelami do góry, na jasne, lekko zachmurzone niebo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djęc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ieża Wolności w Teheranie, stolicy Iranu, w perspektywie żabiej, na tle jasnego nieba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slajdu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Tytuł slajdu</a:t>
            </a:r>
          </a:p>
        </p:txBody>
      </p:sp>
      <p:sp>
        <p:nvSpPr>
          <p:cNvPr id="3" name="Treść - poziom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Tekst punktora na slajdzie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3 Grupa projektow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3 Grupa projektowa</a:t>
            </a:r>
          </a:p>
        </p:txBody>
      </p:sp>
      <p:sp>
        <p:nvSpPr>
          <p:cNvPr id="172" name="Playwright tests from NL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933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Playwright tests from NL</a:t>
            </a:r>
          </a:p>
        </p:txBody>
      </p:sp>
      <p:sp>
        <p:nvSpPr>
          <p:cNvPr id="173" name="Initial research summar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defRPr b="0" sz="3733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Initial research summary</a:t>
            </a:r>
            <a:endParaRPr sz="1200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Usage of Playwright-MCP will greatly speed-up process of web apps testing."/>
          <p:cNvSpPr txBox="1"/>
          <p:nvPr>
            <p:ph type="body" sz="half" idx="1"/>
          </p:nvPr>
        </p:nvSpPr>
        <p:spPr>
          <a:xfrm>
            <a:off x="1206500" y="6022458"/>
            <a:ext cx="9779001" cy="825663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Usage of Playwright-MCP will greatly speed-up process of web apps testing.  </a:t>
            </a:r>
          </a:p>
        </p:txBody>
      </p:sp>
      <p:pic>
        <p:nvPicPr>
          <p:cNvPr id="176" name="Niewielki fragment nowoczesnego mostu w Qingdao na półwyspie Szantung w Chinach, na tle lekko zachmurzonego nieba" descr="Niewielki fragment nowoczesnego mostu w Qingdao na półwyspie Szantung w Chinach, na tle lekko zachmurzonego nieba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17" r="0" b="0"/>
          <a:stretch>
            <a:fillRect/>
          </a:stretch>
        </p:blipFill>
        <p:spPr>
          <a:xfrm>
            <a:off x="16081074" y="1263848"/>
            <a:ext cx="3138727" cy="11042905"/>
          </a:xfrm>
          <a:prstGeom prst="rect">
            <a:avLst/>
          </a:prstGeom>
        </p:spPr>
      </p:pic>
      <p:sp>
        <p:nvSpPr>
          <p:cNvPr id="177" name="Basic tool sche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/>
            </a:lvl1pPr>
          </a:lstStyle>
          <a:p>
            <a:pPr/>
            <a:r>
              <a:t>Basic tool schema </a:t>
            </a:r>
            <a:endParaRPr spc="-18" sz="9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Our target is to create environment, taking NL prompts from a tester and while working in pre-defined POMs of pages, returning working tests using Playwright."/>
          <p:cNvSpPr txBox="1"/>
          <p:nvPr>
            <p:ph type="body" sz="quarter" idx="1"/>
          </p:nvPr>
        </p:nvSpPr>
        <p:spPr>
          <a:xfrm>
            <a:off x="1206499" y="5532201"/>
            <a:ext cx="9779001" cy="5581858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Our target is to create environment, taking NL prompts from a tester and while working in pre-defined POMs of pages, returning working tests using Playwright. </a:t>
            </a:r>
          </a:p>
        </p:txBody>
      </p:sp>
      <p:pic>
        <p:nvPicPr>
          <p:cNvPr id="180" name="Niewielki fragment nowoczesnego mostu w Qingdao na półwyspie Szantung w Chinach, na tle lekko zachmurzonego nieba" descr="Niewielki fragment nowoczesnego mostu w Qingdao na półwyspie Szantung w Chinach, na tle lekko zachmurzonego nieba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17" r="0" b="0"/>
          <a:stretch>
            <a:fillRect/>
          </a:stretch>
        </p:blipFill>
        <p:spPr>
          <a:xfrm>
            <a:off x="16081074" y="1263848"/>
            <a:ext cx="3138727" cy="11042905"/>
          </a:xfrm>
          <a:prstGeom prst="rect">
            <a:avLst/>
          </a:prstGeom>
        </p:spPr>
      </p:pic>
      <p:sp>
        <p:nvSpPr>
          <p:cNvPr id="181" name="Basic tool sche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/>
            </a:lvl1pPr>
          </a:lstStyle>
          <a:p>
            <a:pPr/>
            <a:r>
              <a:t>Basic tool schema </a:t>
            </a:r>
            <a:endParaRPr spc="-18" sz="9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his way we can nullify LLMs hallucination and improve testing efficiency."/>
          <p:cNvSpPr txBox="1"/>
          <p:nvPr>
            <p:ph type="body" sz="half" idx="1"/>
          </p:nvPr>
        </p:nvSpPr>
        <p:spPr>
          <a:xfrm>
            <a:off x="1206500" y="6207536"/>
            <a:ext cx="9779001" cy="825663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This way we can nullify LLMs hallucination and improve testing efficiency.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184" name="Niewielki fragment nowoczesnego mostu w Qingdao na półwyspie Szantung w Chinach, na tle lekko zachmurzonego nieba" descr="Niewielki fragment nowoczesnego mostu w Qingdao na półwyspie Szantung w Chinach, na tle lekko zachmurzonego nieba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17" r="0" b="0"/>
          <a:stretch>
            <a:fillRect/>
          </a:stretch>
        </p:blipFill>
        <p:spPr>
          <a:xfrm>
            <a:off x="16081073" y="1263848"/>
            <a:ext cx="3138727" cy="11042904"/>
          </a:xfrm>
          <a:prstGeom prst="rect">
            <a:avLst/>
          </a:prstGeom>
        </p:spPr>
      </p:pic>
      <p:sp>
        <p:nvSpPr>
          <p:cNvPr id="185" name="Basic tool sche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/>
            </a:lvl1pPr>
          </a:lstStyle>
          <a:p>
            <a:pPr/>
            <a:r>
              <a:t>Basic tool schema </a:t>
            </a:r>
            <a:endParaRPr spc="-18" sz="9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MCP clients compari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754">
              <a:defRPr spc="-174" sz="8700"/>
            </a:lvl1pPr>
          </a:lstStyle>
          <a:p>
            <a:pPr/>
            <a:r>
              <a:t>MCP clients comparision</a:t>
            </a:r>
          </a:p>
        </p:txBody>
      </p:sp>
      <p:sp>
        <p:nvSpPr>
          <p:cNvPr id="188" name="Client with consider are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685165">
              <a:defRPr sz="4565"/>
            </a:lvl1pPr>
          </a:lstStyle>
          <a:p>
            <a:pPr/>
            <a:r>
              <a:t>Client with consider are:</a:t>
            </a:r>
            <a:endParaRPr sz="996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89" name="VS Cod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956128" indent="-816428">
              <a:buFont typeface="Arial"/>
            </a:pPr>
            <a:r>
              <a:t>VS Code</a:t>
            </a:r>
          </a:p>
          <a:p>
            <a:pPr marL="956128" indent="-816428">
              <a:buFont typeface="Arial"/>
            </a:pPr>
            <a:r>
              <a:t>Cursor</a:t>
            </a:r>
          </a:p>
          <a:p>
            <a:pPr marL="956128" indent="-816428">
              <a:buFont typeface="Arial"/>
            </a:pPr>
            <a:r>
              <a:t>Windsurf</a:t>
            </a:r>
          </a:p>
          <a:p>
            <a:pPr marL="956128" indent="-816428">
              <a:buFont typeface="Arial"/>
            </a:pPr>
            <a:r>
              <a:t>Claude Desktop</a:t>
            </a:r>
          </a:p>
          <a:p>
            <a:pPr marL="956128" indent="-816428">
              <a:buFont typeface="Arial"/>
            </a:pPr>
            <a:r>
              <a:t>Goose</a:t>
            </a:r>
          </a:p>
        </p:txBody>
      </p:sp>
      <p:pic>
        <p:nvPicPr>
          <p:cNvPr id="190" name="visual-studio-code.svg" descr="visual-studio-code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5250" y="4168126"/>
            <a:ext cx="934779" cy="9294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goose.png" descr="goos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29657" y="9237138"/>
            <a:ext cx="934780" cy="9347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claude-color.svg" descr="claude-color.sv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933705" y="7909120"/>
            <a:ext cx="934780" cy="9347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cursor.svg" descr="cursor.sv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329657" y="5407511"/>
            <a:ext cx="934780" cy="9347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windsurf.svg" descr="windsurf.sv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135250" y="6752993"/>
            <a:ext cx="934779" cy="9347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Tabela 1"/>
          <p:cNvGraphicFramePr/>
          <p:nvPr/>
        </p:nvGraphicFramePr>
        <p:xfrm>
          <a:off x="2359741" y="1276349"/>
          <a:ext cx="20855980" cy="11176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5210819"/>
                <a:gridCol w="5210819"/>
                <a:gridCol w="5210819"/>
                <a:gridCol w="5210819"/>
              </a:tblGrid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r>
                        <a:t>Tool name</a:t>
                      </a:r>
                      <a:endParaRPr b="0"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Setup ease</a:t>
                      </a:r>
                    </a:p>
                  </a:txBody>
                  <a:tcPr marL="84666" marR="84666" marT="84666" marB="84666" anchor="ctr" anchorCtr="0" horzOverflow="overflow"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r>
                        <a:t>Browser integration</a:t>
                      </a:r>
                      <a:endParaRPr b="0"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  <a:r>
                        <a:t>Main advantage</a:t>
                      </a:r>
                      <a:endParaRPr b="0"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600"/>
                        <a:t>VS Code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High  (extension)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Integrated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Lately introduced integrated browser</a:t>
                      </a:r>
                    </a:p>
                  </a:txBody>
                  <a:tcPr marL="84666" marR="84666" marT="84666" marB="84666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600"/>
                        <a:t>Cursor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Medium  (JSON)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External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Its a tool optimized for working with your existing code</a:t>
                      </a:r>
                    </a:p>
                  </a:txBody>
                  <a:tcPr marL="84666" marR="84666" marT="84666" marB="84666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600"/>
                        <a:t>Windsurf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Highest  (one-click)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External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Extremely easy integration with Playwright</a:t>
                      </a:r>
                    </a:p>
                  </a:txBody>
                  <a:tcPr marL="84666" marR="84666" marT="84666" marB="84666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2600"/>
                      </a:pPr>
                      <a:r>
                        <a:t>Claude Desktop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Low  (manual config)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External</a:t>
                      </a:r>
                    </a:p>
                  </a:txBody>
                  <a:tcPr marL="84666" marR="84666" marT="84666" marB="84666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Its better choice if you want non-IDE tool</a:t>
                      </a:r>
                    </a:p>
                  </a:txBody>
                  <a:tcPr marL="84666" marR="84666" marT="84666" marB="84666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1860550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2600"/>
                      </a:pPr>
                      <a:r>
                        <a:t>Goose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Medium  (extensions)</a:t>
                      </a:r>
                    </a:p>
                  </a:txBody>
                  <a:tcPr marL="84666" marR="84666" marT="84666" marB="84666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External</a:t>
                      </a:r>
                    </a:p>
                  </a:txBody>
                  <a:tcPr marL="84666" marR="84666" marT="84666" marB="84666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Optimized for Playwright CLI, token efficient, possible automation of flaky tests*</a:t>
                      </a:r>
                    </a:p>
                  </a:txBody>
                  <a:tcPr marL="84666" marR="84666" marT="84666" marB="84666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WE CHOSE WINDSURF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CHOSE WINDSURF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I vs human cost compari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 vs human cost comparision</a:t>
            </a:r>
            <a:endParaRPr spc="-24"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201" name="If we consider a wage of a mid/senior QA tester at 100PLN/hr, and estimated time to write test manually at 4 hrs, cost of test will be 400PLN.…"/>
          <p:cNvSpPr txBox="1"/>
          <p:nvPr>
            <p:ph type="body" idx="1"/>
          </p:nvPr>
        </p:nvSpPr>
        <p:spPr>
          <a:xfrm>
            <a:off x="1206500" y="4424003"/>
            <a:ext cx="21971001" cy="9468596"/>
          </a:xfrm>
          <a:prstGeom prst="rect">
            <a:avLst/>
          </a:prstGeom>
        </p:spPr>
        <p:txBody>
          <a:bodyPr/>
          <a:lstStyle/>
          <a:p>
            <a:pPr>
              <a:buSzPct val="40000"/>
              <a:buBlip>
                <a:blip r:embed="rId2"/>
              </a:buBlip>
            </a:pPr>
            <a:r>
              <a:t>If we consider a wage of a mid/senior QA tester at 100PLN/hr, and estimated time to write test manually at 4 hrs, cost of test will be 400PLN.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SzPct val="40000"/>
              <a:buBlip>
                <a:blip r:embed="rId2"/>
              </a:buBlip>
            </a:pPr>
          </a:p>
          <a:p>
            <a:pPr>
              <a:buSzPct val="40000"/>
              <a:buBlip>
                <a:blip r:embed="rId2"/>
              </a:buBlip>
            </a:pPr>
            <a:r>
              <a:t>AI on the other hand will take significantly less time (around 2-5 min) and cost with an assumption of usage of 5-15 k tokens will be 0.05$ - 0.25$.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buSzPct val="40000"/>
              <a:buBlip>
                <a:blip r:embed="rId2"/>
              </a:buBlip>
            </a:pPr>
          </a:p>
          <a:p>
            <a:pPr>
              <a:buSzPct val="40000"/>
              <a:buBlip>
                <a:blip r:embed="rId2"/>
              </a:buBlip>
            </a:pPr>
            <a:r>
              <a:t>If we consider that around 10% of saved time is used on the AI generated tests auditing, we can save abt 90% of time and money spent on test.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Tabela 1"/>
          <p:cNvGraphicFramePr/>
          <p:nvPr/>
        </p:nvGraphicFramePr>
        <p:xfrm>
          <a:off x="2517063" y="3172211"/>
          <a:ext cx="19362574" cy="9860306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{2708684C-4D16-4618-839F-0558EEFCDFE6}</a:tableStyleId>
              </a:tblPr>
              <a:tblGrid>
                <a:gridCol w="4837468"/>
                <a:gridCol w="4837468"/>
                <a:gridCol w="4837468"/>
                <a:gridCol w="4837468"/>
              </a:tblGrid>
              <a:tr h="246190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Tool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6C6C6C"/>
                      </a:solidFill>
                      <a:miter lim="400000"/>
                    </a:lnL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Privacy/security</a:t>
                      </a:r>
                    </a:p>
                  </a:txBody>
                  <a:tcPr marL="50800" marR="50800" marT="50800" marB="50800" anchor="ctr" anchorCtr="0" horzOverflow="overflow"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Cost efficiency</a:t>
                      </a:r>
                    </a:p>
                  </a:txBody>
                  <a:tcPr marL="50800" marR="50800" marT="50800" marB="50800" anchor="ctr" anchorCtr="0" horzOverflow="overflow"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3200"/>
                        <a:t>Addition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gradFill flip="none" rotWithShape="1">
                      <a:gsLst>
                        <a:gs pos="0">
                          <a:schemeClr val="accent1">
                            <a:lumOff val="16847"/>
                          </a:schemeClr>
                        </a:gs>
                        <a:gs pos="100000">
                          <a:schemeClr val="accent1">
                            <a:lumOff val="-13575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246190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2600"/>
                      </a:pPr>
                      <a:r>
                        <a:t>PlaywrightCLI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600"/>
                      </a:pPr>
                      <a:r>
                        <a:t>High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Low token usage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Large scale/long sessions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246190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2600"/>
                        <a:t>Browser use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600"/>
                      </a:pPr>
                      <a:r>
                        <a:t>If paired with Ollama, highest bcs of local model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Free in terms of tokens, bcs of local AI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Good in high privacy environments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</a:tcPr>
                </a:tc>
              </a:tr>
              <a:tr h="246190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2600"/>
                      </a:pPr>
                      <a:r>
                        <a:t>Stagehand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2600"/>
                      </a:pPr>
                      <a:r>
                        <a:t>Medium (session caching, cloud first)</a:t>
                      </a:r>
                      <a:endParaRPr sz="1200">
                        <a:latin typeface="Times Roman"/>
                        <a:ea typeface="Times Roman"/>
                        <a:cs typeface="Times Roman"/>
                        <a:sym typeface="Times Roman"/>
                      </a:endParaR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Medium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2600"/>
                        <a:t>The most reliable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6C6C6C"/>
                      </a:solidFill>
                      <a:miter lim="400000"/>
                    </a:lnR>
                    <a:lnB w="12700">
                      <a:solidFill>
                        <a:srgbClr val="6C6C6C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04" name="Competition analysis,  defining strong points"/>
          <p:cNvSpPr txBox="1"/>
          <p:nvPr/>
        </p:nvSpPr>
        <p:spPr>
          <a:xfrm>
            <a:off x="6677437" y="381348"/>
            <a:ext cx="11029126" cy="2384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Competition analysis, </a:t>
            </a:r>
            <a:br/>
            <a:r>
              <a:t>defining strong points</a:t>
            </a:r>
            <a:endParaRPr spc="-24"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